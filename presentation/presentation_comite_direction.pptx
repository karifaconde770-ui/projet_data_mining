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Segmentation de la clientèle Mobile Money</a:t>
            </a:r>
          </a:p>
          <a:p>
            <a:r>
              <a:rPr sz="1800">
                <a:solidFill>
                  <a:srgbClr val="CFB87A"/>
                </a:solidFill>
              </a:rPr>
              <a:t>Comité de direction — Data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AAAA"/>
                </a:solidFill>
              </a:rPr>
              <a:t>50 000 transactions | 5 000 clients | 6 mois de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E4A"/>
                </a:solidFill>
              </a:rPr>
              <a:t>Contexte &amp; objectif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0800"/>
          </a:xfrm>
          <a:prstGeom prst="rect">
            <a:avLst/>
          </a:prstGeom>
          <a:solidFill>
            <a:srgbClr val="C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Le Mobile Money est un canal financier central en Guinée : dépôts, retraits, transferts, paiement de factures, achat de crédit.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La clientèle est hétérogène — une offre unique sous-performe et dilue le ROI marketing.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Objectif : segmenter la base client pour personnaliser les offres, réduire le churn et augmenter la valeur par client.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Démarche : feature engineering RFM enrichi → clustering K-means + validation CHA → recommandations actionnables.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Segmentation Mobile Money — Données anonymisées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E4A"/>
                </a:solidFill>
              </a:rPr>
              <a:t>Méthodologie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0800"/>
          </a:xfrm>
          <a:prstGeom prst="rect">
            <a:avLst/>
          </a:prstGeom>
          <a:solidFill>
            <a:srgbClr val="C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</a:rPr>
              <a:t>• 1. Feature engineering client : récence, fréquence, montants, volatilité, répartition par type de transaction (12 variables)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</a:rPr>
              <a:t>• 2. Traitement des valeurs aberrantes : winsorisation 1%/99%, documentée, aucun client exclu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</a:rPr>
              <a:t>• 3. Normalisation Z-score + ACP exploratoire</a:t>
            </a:r>
          </a:p>
          <a:p>
            <a:pPr lvl="1"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</a:rPr>
              <a:t>–    → 6 composantes expliquent 90% de la variance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</a:rPr>
              <a:t>• 4. Clustering K-means (n_init=10) — K choisi par coude + silhouette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</a:rPr>
              <a:t>• 5. Validation croisée par Classification Hiérarchique Ascendante (Ward)</a:t>
            </a:r>
          </a:p>
          <a:p>
            <a:pPr lvl="1"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</a:rPr>
              <a:t>–    → Indice de Rand ajusté = 0.67 entre K-means et CHA (robustesse confirmée)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Segmentation Mobile Money — Données anonymisées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E4A"/>
                </a:solidFill>
              </a:rPr>
              <a:t>Choix du nombre de segments (K=7)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0800"/>
          </a:xfrm>
          <a:prstGeom prst="rect">
            <a:avLst/>
          </a:prstGeom>
          <a:solidFill>
            <a:srgbClr val="C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15600" cy="3943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Segmentation Mobile Money — Données anonymisées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E4A"/>
                </a:solidFill>
              </a:rPr>
              <a:t>Segments identifiés — projection ACP 2D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0800"/>
          </a:xfrm>
          <a:prstGeom prst="rect">
            <a:avLst/>
          </a:prstGeom>
          <a:solidFill>
            <a:srgbClr val="C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means_pca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371600"/>
            <a:ext cx="6168043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Segmentation Mobile Money — Données anonymisées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E4A"/>
                </a:solidFill>
              </a:rPr>
              <a:t>Validation croisée — Classification Hiérarchique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0800"/>
          </a:xfrm>
          <a:prstGeom prst="rect">
            <a:avLst/>
          </a:prstGeom>
          <a:solidFill>
            <a:srgbClr val="C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877824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Segmentation Mobile Money — Données anonymisées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E4A"/>
                </a:solidFill>
              </a:rPr>
              <a:t>Résumé des segments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0800"/>
          </a:xfrm>
          <a:prstGeom prst="rect">
            <a:avLst/>
          </a:prstGeom>
          <a:solidFill>
            <a:srgbClr val="C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68629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Effectif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Part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Silhouette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100"/>
                        <a:t>Petits transactionnels quotidiens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1 069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0.37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100"/>
                        <a:t>Acheteurs de crédit téléphonique occasionnels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0.32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100"/>
                        <a:t>Épargnants / gros déposants occasionnels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0.05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100"/>
                        <a:t>Payeurs de factures réguliers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0.43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100"/>
                        <a:t>Retraits dominants occasionnels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0.18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100"/>
                        <a:t>Épargnants / gros déposants réguliers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0.44</a:t>
                      </a:r>
                    </a:p>
                  </a:txBody>
                  <a:tcPr/>
                </a:tc>
              </a:tr>
              <a:tr h="468636">
                <a:tc>
                  <a:txBody>
                    <a:bodyPr/>
                    <a:lstStyle/>
                    <a:p>
                      <a:r>
                        <a:rPr sz="1100"/>
                        <a:t>Transferts sociaux dominants occasionnels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Segmentation Mobile Money — Données anonymisées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E4A"/>
                </a:solidFill>
              </a:rPr>
              <a:t>Recommandations marketing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0800"/>
          </a:xfrm>
          <a:prstGeom prst="rect">
            <a:avLst/>
          </a:prstGeom>
          <a:solidFill>
            <a:srgbClr val="C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270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Offre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50"/>
                        <a:t>Dormants / 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0 frais 3 premières opérations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Taux réactivation 30j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50"/>
                        <a:t>Payeurs de factures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Auto-paiement + cashback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Adoption auto-paiement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50"/>
                        <a:t>Acheteurs crédit fréquents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Bonus data 5e 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Fréquence recharge/mois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50"/>
                        <a:t>Gros épargnants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Épargne rémunérée, plafond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Montant moyen déposé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50"/>
                        <a:t>Petits transactionnels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Frais dégressifs au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Fréquence hebdo. moyenne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050"/>
                        <a:t>Polyvalents actifs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Statut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Montant total mensuel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Segmentation Mobile Money — Données anonymisées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E4A"/>
                </a:solidFill>
              </a:rPr>
              <a:t>Priorisation &amp; retour attendu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0800"/>
          </a:xfrm>
          <a:prstGeom prst="rect">
            <a:avLst/>
          </a:prstGeom>
          <a:solidFill>
            <a:srgbClr val="C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Priorité 1 — Dormants : coût de réactivation faible (SMS/USSD), volume de clients important → ROI rapide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Priorité 2 — Polyvalents actifs : plus forte valeur transactionnelle, risque de churn coûteux → investissement relationnel justifié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Priorité 3 — Petits transactionnels quotidiens : fidélisation long terme via frais dégressifs, effet volume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Risques à surveiller : cannibalisation des frais sur segments déjà fidèles, nécessité d'un test A/B avant déploiement large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Segmentation Mobile Money — Données anonymisées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 &amp; prochaines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</a:rPr>
              <a:t>• 7 segments robustes identifiés (silhouette=0.33, ARI K-means/CHA=0.67)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</a:rPr>
              <a:t>• Recommandations marketing prêtes à être testées (pilote sur 2 segments prioritaires)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</a:rPr>
              <a:t>• Prochaine étape : test A/B des offres sur 4-6 semaines, suivi des KPI définis, itération sur la segmentation trimestrielle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Segmentation Mobile Money — Données anonymisées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